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/kHfTSyEJAszyEiBzhaHLSGjK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40080" y="1828800"/>
            <a:ext cx="71322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PhishGuard AI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640080" y="2880360"/>
            <a:ext cx="6858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Détection de sites de phishing</a:t>
            </a:r>
            <a:br>
              <a:rPr lang="en-US" sz="20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par Machine Learning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640080" y="3931920"/>
            <a:ext cx="5029200" cy="3660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0065" y="4323950"/>
            <a:ext cx="3783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Mohamed Rayen BOUMIZA</a:t>
            </a:r>
            <a:endParaRPr sz="2100" b="1">
              <a:solidFill>
                <a:srgbClr val="A8B8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Mohamed Raed TRIFI</a:t>
            </a:r>
            <a:endParaRPr sz="2100" b="1">
              <a:solidFill>
                <a:srgbClr val="A8B8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 title="Logo PhishGuard AI sur fond sombre.png"/>
          <p:cNvPicPr preferRelativeResize="0"/>
          <p:nvPr/>
        </p:nvPicPr>
        <p:blipFill rotWithShape="1">
          <a:blip r:embed="rId3">
            <a:alphaModFix/>
          </a:blip>
          <a:srcRect t="-5960" b="5960"/>
          <a:stretch/>
        </p:blipFill>
        <p:spPr>
          <a:xfrm>
            <a:off x="5215125" y="409055"/>
            <a:ext cx="6858002" cy="457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40080" y="27432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Problématique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79505" y="1254573"/>
            <a:ext cx="1088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Le phishing est la cybermenace la plus répandue :</a:t>
            </a:r>
            <a:br>
              <a:rPr lang="en-US" sz="20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0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es sites frauduleux imitent les vrais pour voler</a:t>
            </a:r>
            <a:r>
              <a:rPr lang="en-US" sz="2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identifiants, mots de passe et données bancaires.</a:t>
            </a:r>
            <a:endParaRPr sz="2000"/>
          </a:p>
        </p:txBody>
      </p:sp>
      <p:sp>
        <p:nvSpPr>
          <p:cNvPr id="96" name="Google Shape;96;p2"/>
          <p:cNvSpPr/>
          <p:nvPr/>
        </p:nvSpPr>
        <p:spPr>
          <a:xfrm>
            <a:off x="640080" y="2194560"/>
            <a:ext cx="10881360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40080" y="24688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3.4 Milliards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40080" y="3374720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d'emails de phishing</a:t>
            </a:r>
            <a:b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envoyés chaque jour</a:t>
            </a:r>
            <a:endParaRPr sz="1600"/>
          </a:p>
        </p:txBody>
      </p:sp>
      <p:sp>
        <p:nvSpPr>
          <p:cNvPr id="99" name="Google Shape;99;p2"/>
          <p:cNvSpPr/>
          <p:nvPr/>
        </p:nvSpPr>
        <p:spPr>
          <a:xfrm>
            <a:off x="640080" y="3182112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0" y="24688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90 %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572000" y="3374720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des cyberattaques débutent</a:t>
            </a:r>
            <a:b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par une URL</a:t>
            </a:r>
            <a:endParaRPr sz="1600"/>
          </a:p>
        </p:txBody>
      </p:sp>
      <p:sp>
        <p:nvSpPr>
          <p:cNvPr id="102" name="Google Shape;102;p2"/>
          <p:cNvSpPr/>
          <p:nvPr/>
        </p:nvSpPr>
        <p:spPr>
          <a:xfrm>
            <a:off x="4572000" y="3182112"/>
            <a:ext cx="1097280" cy="36576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503919" y="24688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&lt; 300 ms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503919" y="3374720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c'est le temps ciblé</a:t>
            </a:r>
            <a:b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pour rendre un verdict</a:t>
            </a:r>
            <a:endParaRPr sz="1600"/>
          </a:p>
        </p:txBody>
      </p:sp>
      <p:sp>
        <p:nvSpPr>
          <p:cNvPr id="105" name="Google Shape;105;p2"/>
          <p:cNvSpPr/>
          <p:nvPr/>
        </p:nvSpPr>
        <p:spPr>
          <a:xfrm>
            <a:off x="8503919" y="3182112"/>
            <a:ext cx="1097280" cy="3657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40080" y="4023360"/>
            <a:ext cx="10881360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0118" y="4524165"/>
            <a:ext cx="1088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Pourquoi le Machine Learning ?</a:t>
            </a:r>
            <a:endParaRPr sz="2000"/>
          </a:p>
        </p:txBody>
      </p:sp>
      <p:sp>
        <p:nvSpPr>
          <p:cNvPr id="108" name="Google Shape;108;p2"/>
          <p:cNvSpPr txBox="1"/>
          <p:nvPr/>
        </p:nvSpPr>
        <p:spPr>
          <a:xfrm>
            <a:off x="640118" y="4981365"/>
            <a:ext cx="10881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règles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manuelles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ne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peuvent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pas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suivre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le volume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ni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la sophistication des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attaques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. Le ML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apprend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automatiquement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les patterns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caractéristiques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des URLs et pages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malveillantes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de 45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signaux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mesurables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 sans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nécessiter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de mise à jour </a:t>
            </a:r>
            <a:r>
              <a:rPr lang="en-US" sz="2000" b="0" i="0" u="none" strike="noStrike" cap="none" dirty="0" err="1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manuelle</a:t>
            </a:r>
            <a:r>
              <a:rPr lang="en-US" sz="2000" b="0" i="0" u="none" strike="noStrike" cap="none" dirty="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548640" y="804672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PhiUSIIL Phishing URL Dataset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02920" y="1426464"/>
            <a:ext cx="5943600" cy="530352"/>
          </a:xfrm>
          <a:prstGeom prst="rect">
            <a:avLst/>
          </a:prstGeom>
          <a:solidFill>
            <a:srgbClr val="1626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85800" y="14630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Lignes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3611880" y="14630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235 795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85800" y="202996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Colonnes (brut)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3611880" y="202996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56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502920" y="2560320"/>
            <a:ext cx="5943600" cy="530352"/>
          </a:xfrm>
          <a:prstGeom prst="rect">
            <a:avLst/>
          </a:prstGeom>
          <a:solidFill>
            <a:srgbClr val="1626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85800" y="259689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Colonnes (modèle)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3611880" y="259689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85800" y="316382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Valeurs manquantes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3611880" y="3163824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02920" y="3694176"/>
            <a:ext cx="5943600" cy="530352"/>
          </a:xfrm>
          <a:prstGeom prst="rect">
            <a:avLst/>
          </a:prstGeom>
          <a:solidFill>
            <a:srgbClr val="1626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85800" y="37307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Doublons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3611880" y="373075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C853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85800" y="429768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Domaines uniques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3611880" y="42976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220 086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02920" y="4828032"/>
            <a:ext cx="5943600" cy="530352"/>
          </a:xfrm>
          <a:prstGeom prst="rect">
            <a:avLst/>
          </a:prstGeom>
          <a:solidFill>
            <a:srgbClr val="1626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85800" y="486460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Variable cible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3611880" y="486460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85800" y="543153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Modalités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3611880" y="5431536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0 = Légitime   /   1 = Phishing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903720" y="1261872"/>
            <a:ext cx="4937760" cy="534924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903720" y="1261872"/>
            <a:ext cx="54864" cy="534924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150608" y="137160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 des classes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7223760" y="3383280"/>
            <a:ext cx="1508760" cy="256032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7223760" y="290779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57.2%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7223760" y="349300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134 850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223760" y="60167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Phishing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9372600" y="4027836"/>
            <a:ext cx="1508760" cy="1915763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9372600" y="355234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42.8%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9372600" y="4137564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100 945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9372600" y="60167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Legitime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7150608" y="64465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Dataset légèrement déséquilibré (57 % / 43 %)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57200" y="1325880"/>
            <a:ext cx="4434840" cy="516636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57200" y="1325880"/>
            <a:ext cx="54864" cy="516636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85800" y="144475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URL  Features  (19)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685800" y="1938528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685800" y="193852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1024128" y="19476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Longueur de l'URL et du domaine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85800" y="2450592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85800" y="2450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1024128" y="24597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IP utilisée comme domaine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85800" y="2962656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85800" y="296265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024128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Nombre de sous-domaines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85800" y="3474720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34747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1024128" y="34838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Caractères</a:t>
            </a:r>
            <a:r>
              <a:rPr lang="en-US" sz="1150" b="0" i="0" u="none" strike="noStrike" cap="none" dirty="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 b="0" i="0" u="none" strike="noStrike" cap="none" dirty="0" err="1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spéciaux</a:t>
            </a:r>
            <a:r>
              <a:rPr lang="en-US" sz="1150" b="0" i="0" u="none" strike="noStrike" cap="none" dirty="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 (=, ?, &amp;...)</a:t>
            </a:r>
            <a:endParaRPr dirty="0"/>
          </a:p>
        </p:txBody>
      </p:sp>
      <p:sp>
        <p:nvSpPr>
          <p:cNvPr id="169" name="Google Shape;169;p4"/>
          <p:cNvSpPr/>
          <p:nvPr/>
        </p:nvSpPr>
        <p:spPr>
          <a:xfrm>
            <a:off x="685800" y="3986784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685800" y="398678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024128" y="3995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Ratio chiffres / lettres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685800" y="4498848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85800" y="449884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024128" y="4507992"/>
            <a:ext cx="3657600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Obfuscation - ratio et </a:t>
            </a:r>
            <a:r>
              <a:rPr lang="en-US" sz="1150" b="0" i="0" u="none" strike="noStrike" cap="none" dirty="0" err="1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compte</a:t>
            </a:r>
            <a:endParaRPr dirty="0"/>
          </a:p>
        </p:txBody>
      </p:sp>
      <p:sp>
        <p:nvSpPr>
          <p:cNvPr id="175" name="Google Shape;175;p4"/>
          <p:cNvSpPr/>
          <p:nvPr/>
        </p:nvSpPr>
        <p:spPr>
          <a:xfrm>
            <a:off x="685800" y="5010912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85800" y="50109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024128" y="50200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Ratio de caractères spéciaux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85800" y="5522976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85800" y="552297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024128" y="5532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Utilisation de HTTPS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85800" y="6035040"/>
            <a:ext cx="21945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685800" y="60350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1024128" y="60441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Longueur du TLD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7296912" y="1325880"/>
            <a:ext cx="4434840" cy="516636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7296912" y="1325880"/>
            <a:ext cx="54864" cy="5166360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7525512" y="144475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HTML  Features  (26)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7525512" y="1938528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7525512" y="193852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7882127" y="19476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Présence d'un titre / favicon / description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525512" y="2450592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7525512" y="2450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7882127" y="245973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Nombre de redirections (ext. + interne)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7525512" y="2962656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7525512" y="296265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7882127" y="297180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iFrames, popups, scripts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7525512" y="3474720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7525512" y="34747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7882127" y="348386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Champs cachés ou de mot de passe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7525512" y="3986784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7525512" y="398678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7882127" y="399592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Formulaires vers domaine externe</a:t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7525512" y="4498848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7525512" y="449884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7882127" y="450799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Mots-clés financiers (Bank, Pay, Crypto)</a:t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7525512" y="5010912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7525512" y="501091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07" name="Google Shape;207;p4"/>
          <p:cNvSpPr txBox="1"/>
          <p:nvPr/>
        </p:nvSpPr>
        <p:spPr>
          <a:xfrm>
            <a:off x="7882127" y="502005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Liens internes / vides / externes</a:t>
            </a:r>
            <a:endParaRPr dirty="0"/>
          </a:p>
        </p:txBody>
      </p:sp>
      <p:sp>
        <p:nvSpPr>
          <p:cNvPr id="208" name="Google Shape;208;p4"/>
          <p:cNvSpPr/>
          <p:nvPr/>
        </p:nvSpPr>
        <p:spPr>
          <a:xfrm>
            <a:off x="7525512" y="5522976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7525512" y="552297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10" name="Google Shape;210;p4"/>
          <p:cNvSpPr txBox="1"/>
          <p:nvPr/>
        </p:nvSpPr>
        <p:spPr>
          <a:xfrm>
            <a:off x="7882127" y="55321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Copyright présent</a:t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7525512" y="6035040"/>
            <a:ext cx="219456" cy="219456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525512" y="603504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7882127" y="604418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Responsive design</a:t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5138928" y="1325880"/>
            <a:ext cx="1920240" cy="91440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5138928" y="134416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216" name="Google Shape;216;p4"/>
          <p:cNvSpPr txBox="1"/>
          <p:nvPr/>
        </p:nvSpPr>
        <p:spPr>
          <a:xfrm>
            <a:off x="5138928" y="1938528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5029200" y="2423160"/>
            <a:ext cx="2148840" cy="4069080"/>
          </a:xfrm>
          <a:prstGeom prst="rect">
            <a:avLst/>
          </a:prstGeom>
          <a:solidFill>
            <a:srgbClr val="22101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029200" y="2423160"/>
            <a:ext cx="214884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5120640" y="25146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Features exclues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5120640" y="281635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(data leakage)</a:t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5166360" y="3227832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 txBox="1"/>
          <p:nvPr/>
        </p:nvSpPr>
        <p:spPr>
          <a:xfrm>
            <a:off x="5166360" y="32278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5458968" y="318211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URLSimilarityIndex</a:t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5166360" y="3712463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5166360" y="3712463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26" name="Google Shape;226;p4"/>
          <p:cNvSpPr txBox="1"/>
          <p:nvPr/>
        </p:nvSpPr>
        <p:spPr>
          <a:xfrm>
            <a:off x="5458968" y="3666744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DomainTitleMatchScore</a:t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5166360" y="4197096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5166360" y="419709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5458968" y="4151376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URLTitleMatchScore</a:t>
            </a:r>
            <a:endParaRPr/>
          </a:p>
        </p:txBody>
      </p:sp>
      <p:sp>
        <p:nvSpPr>
          <p:cNvPr id="230" name="Google Shape;230;p4"/>
          <p:cNvSpPr/>
          <p:nvPr/>
        </p:nvSpPr>
        <p:spPr>
          <a:xfrm>
            <a:off x="5166360" y="4681728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5166360" y="468172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32" name="Google Shape;232;p4"/>
          <p:cNvSpPr txBox="1"/>
          <p:nvPr/>
        </p:nvSpPr>
        <p:spPr>
          <a:xfrm>
            <a:off x="5458968" y="4636008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TLDLegitimateProb</a:t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5166360" y="5166359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5166360" y="5166359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5458968" y="5120640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URLCharProb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5166360" y="5650992"/>
            <a:ext cx="182880" cy="18288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 txBox="1"/>
          <p:nvPr/>
        </p:nvSpPr>
        <p:spPr>
          <a:xfrm>
            <a:off x="5166360" y="565099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5458968" y="5605272"/>
            <a:ext cx="16276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C107"/>
                </a:solidFill>
                <a:latin typeface="Consolas"/>
                <a:ea typeface="Consolas"/>
                <a:cs typeface="Consolas"/>
                <a:sym typeface="Consolas"/>
              </a:rPr>
              <a:t>CharContinuationRate</a:t>
            </a:r>
            <a:endParaRPr/>
          </a:p>
        </p:txBody>
      </p:sp>
      <p:sp>
        <p:nvSpPr>
          <p:cNvPr id="239" name="Google Shape;239;p4"/>
          <p:cNvSpPr txBox="1"/>
          <p:nvPr/>
        </p:nvSpPr>
        <p:spPr>
          <a:xfrm>
            <a:off x="5120640" y="605332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Scores calculés depuis</a:t>
            </a:r>
            <a:br>
              <a:rPr lang="en-US" sz="8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la cible — biais certain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45" name="Google Shape;245;p5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Stratégie Expérimentale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548640" y="77724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4 scénarios progressifs pour éliminer le data leakage</a:t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023360" y="3520440"/>
            <a:ext cx="292608" cy="54864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315968" y="3410712"/>
            <a:ext cx="201168" cy="274320"/>
          </a:xfrm>
          <a:prstGeom prst="can">
            <a:avLst>
              <a:gd name="adj" fmla="val 25000"/>
            </a:avLst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6949440" y="3520440"/>
            <a:ext cx="292608" cy="54864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7242048" y="3410712"/>
            <a:ext cx="201168" cy="274320"/>
          </a:xfrm>
          <a:prstGeom prst="can">
            <a:avLst>
              <a:gd name="adj" fmla="val 25000"/>
            </a:avLst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9875520" y="3520440"/>
            <a:ext cx="292608" cy="54864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10168128" y="3410712"/>
            <a:ext cx="201168" cy="274320"/>
          </a:xfrm>
          <a:prstGeom prst="can">
            <a:avLst>
              <a:gd name="adj" fmla="val 25000"/>
            </a:avLst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411480" y="1371600"/>
            <a:ext cx="2697480" cy="512064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76072" y="1536192"/>
            <a:ext cx="822960" cy="320040"/>
          </a:xfrm>
          <a:prstGeom prst="rect">
            <a:avLst/>
          </a:prstGeom>
          <a:solidFill>
            <a:srgbClr val="2A3D5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576072" y="153619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Case 1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576072" y="196596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Split aléatoire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576072" y="2468880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train_test_split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80/20 random</a:t>
            </a:r>
            <a:endParaRPr/>
          </a:p>
        </p:txBody>
      </p:sp>
      <p:sp>
        <p:nvSpPr>
          <p:cNvPr id="258" name="Google Shape;258;p5"/>
          <p:cNvSpPr/>
          <p:nvPr/>
        </p:nvSpPr>
        <p:spPr>
          <a:xfrm>
            <a:off x="576072" y="3154680"/>
            <a:ext cx="2368296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 txBox="1"/>
          <p:nvPr/>
        </p:nvSpPr>
        <p:spPr>
          <a:xfrm>
            <a:off x="576072" y="329184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⚠ Limites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576072" y="3611880"/>
            <a:ext cx="236829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Fuites possibles :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 même domaine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peut être dans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train ET test</a:t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355848" y="1371600"/>
            <a:ext cx="2697480" cy="512064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3520440" y="1536192"/>
            <a:ext cx="822960" cy="320040"/>
          </a:xfrm>
          <a:prstGeom prst="rect">
            <a:avLst/>
          </a:prstGeom>
          <a:solidFill>
            <a:srgbClr val="2A3D5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 txBox="1"/>
          <p:nvPr/>
        </p:nvSpPr>
        <p:spPr>
          <a:xfrm>
            <a:off x="3520440" y="153619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Case 2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3520440" y="196596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Split par domaine</a:t>
            </a:r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3520440" y="2468880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GroupShuffleSplit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par Domain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3520440" y="3154680"/>
            <a:ext cx="2368296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3520440" y="329184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⚠ Limites</a:t>
            </a:r>
            <a:endParaRPr/>
          </a:p>
        </p:txBody>
      </p:sp>
      <p:sp>
        <p:nvSpPr>
          <p:cNvPr id="268" name="Google Shape;268;p5"/>
          <p:cNvSpPr txBox="1"/>
          <p:nvPr/>
        </p:nvSpPr>
        <p:spPr>
          <a:xfrm>
            <a:off x="3520440" y="3611880"/>
            <a:ext cx="236829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Élimine la fuite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de domaine, mais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features suspectes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encore présentes</a:t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6300216" y="1371600"/>
            <a:ext cx="2697480" cy="512064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6464808" y="1536192"/>
            <a:ext cx="822960" cy="320040"/>
          </a:xfrm>
          <a:prstGeom prst="rect">
            <a:avLst/>
          </a:prstGeom>
          <a:solidFill>
            <a:srgbClr val="2A3D5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6464808" y="153619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Case 3</a:t>
            </a:r>
            <a:endParaRPr/>
          </a:p>
        </p:txBody>
      </p:sp>
      <p:sp>
        <p:nvSpPr>
          <p:cNvPr id="272" name="Google Shape;272;p5"/>
          <p:cNvSpPr txBox="1"/>
          <p:nvPr/>
        </p:nvSpPr>
        <p:spPr>
          <a:xfrm>
            <a:off x="6464808" y="196596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Sans features fortes</a:t>
            </a:r>
            <a:endParaRPr/>
          </a:p>
        </p:txBody>
      </p:sp>
      <p:sp>
        <p:nvSpPr>
          <p:cNvPr id="273" name="Google Shape;273;p5"/>
          <p:cNvSpPr txBox="1"/>
          <p:nvPr/>
        </p:nvSpPr>
        <p:spPr>
          <a:xfrm>
            <a:off x="6464808" y="2468880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train_test_split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onsolas"/>
                <a:ea typeface="Consolas"/>
                <a:cs typeface="Consolas"/>
                <a:sym typeface="Consolas"/>
              </a:rPr>
              <a:t>+ exclusion SUSPECT</a:t>
            </a:r>
            <a:endParaRPr/>
          </a:p>
        </p:txBody>
      </p:sp>
      <p:sp>
        <p:nvSpPr>
          <p:cNvPr id="274" name="Google Shape;274;p5"/>
          <p:cNvSpPr/>
          <p:nvPr/>
        </p:nvSpPr>
        <p:spPr>
          <a:xfrm>
            <a:off x="6464808" y="3154680"/>
            <a:ext cx="2368296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6464808" y="329184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⚠ Limites</a:t>
            </a:r>
            <a:endParaRPr/>
          </a:p>
        </p:txBody>
      </p:sp>
      <p:sp>
        <p:nvSpPr>
          <p:cNvPr id="276" name="Google Shape;276;p5"/>
          <p:cNvSpPr txBox="1"/>
          <p:nvPr/>
        </p:nvSpPr>
        <p:spPr>
          <a:xfrm>
            <a:off x="6464808" y="3611880"/>
            <a:ext cx="236829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Features suspectes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retirées mais le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leakage de domaine</a:t>
            </a:r>
            <a:b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subsiste encore</a:t>
            </a:r>
            <a:endParaRPr/>
          </a:p>
        </p:txBody>
      </p:sp>
      <p:sp>
        <p:nvSpPr>
          <p:cNvPr id="277" name="Google Shape;277;p5"/>
          <p:cNvSpPr/>
          <p:nvPr/>
        </p:nvSpPr>
        <p:spPr>
          <a:xfrm>
            <a:off x="9244584" y="1371600"/>
            <a:ext cx="2697480" cy="5120640"/>
          </a:xfrm>
          <a:prstGeom prst="rect">
            <a:avLst/>
          </a:prstGeom>
          <a:solidFill>
            <a:srgbClr val="0A2A4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9244584" y="1371600"/>
            <a:ext cx="64008" cy="512064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11878055" y="1371600"/>
            <a:ext cx="64008" cy="512064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9244584" y="1371600"/>
            <a:ext cx="2697480" cy="64008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9244584" y="6428231"/>
            <a:ext cx="2697480" cy="64008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9409176" y="1536192"/>
            <a:ext cx="822960" cy="32004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9409176" y="153619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4</a:t>
            </a:r>
            <a:endParaRPr/>
          </a:p>
        </p:txBody>
      </p:sp>
      <p:sp>
        <p:nvSpPr>
          <p:cNvPr id="284" name="Google Shape;284;p5"/>
          <p:cNvSpPr txBox="1"/>
          <p:nvPr/>
        </p:nvSpPr>
        <p:spPr>
          <a:xfrm>
            <a:off x="9409176" y="1965960"/>
            <a:ext cx="236829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Scénario final ✓</a:t>
            </a:r>
            <a:endParaRPr/>
          </a:p>
        </p:txBody>
      </p:sp>
      <p:sp>
        <p:nvSpPr>
          <p:cNvPr id="285" name="Google Shape;285;p5"/>
          <p:cNvSpPr txBox="1"/>
          <p:nvPr/>
        </p:nvSpPr>
        <p:spPr>
          <a:xfrm>
            <a:off x="9409176" y="2468880"/>
            <a:ext cx="236829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GroupShuffleSplit</a:t>
            </a:r>
            <a:b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+ exclusion SUSPECT</a:t>
            </a:r>
            <a:endParaRPr/>
          </a:p>
        </p:txBody>
      </p:sp>
      <p:sp>
        <p:nvSpPr>
          <p:cNvPr id="286" name="Google Shape;286;p5"/>
          <p:cNvSpPr/>
          <p:nvPr/>
        </p:nvSpPr>
        <p:spPr>
          <a:xfrm>
            <a:off x="9409176" y="3154680"/>
            <a:ext cx="2368296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9409176" y="3291840"/>
            <a:ext cx="2368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✓ Avantages</a:t>
            </a:r>
            <a:endParaRPr/>
          </a:p>
        </p:txBody>
      </p:sp>
      <p:sp>
        <p:nvSpPr>
          <p:cNvPr id="288" name="Google Shape;288;p5"/>
          <p:cNvSpPr txBox="1"/>
          <p:nvPr/>
        </p:nvSpPr>
        <p:spPr>
          <a:xfrm>
            <a:off x="9409176" y="3611880"/>
            <a:ext cx="2368296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Évaluation rigoureuse :</a:t>
            </a:r>
            <a:b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domaines strictement</a:t>
            </a:r>
            <a:b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séparés + features</a:t>
            </a:r>
            <a:b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de qualité uniquement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9409176" y="5577840"/>
            <a:ext cx="2368296" cy="36576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9409176" y="5577840"/>
            <a:ext cx="23682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SCÉNARIO RETENU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Choix des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Modeles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297" name="Google Shape;297;p6"/>
          <p:cNvSpPr txBox="1"/>
          <p:nvPr/>
        </p:nvSpPr>
        <p:spPr>
          <a:xfrm>
            <a:off x="548640" y="804672"/>
            <a:ext cx="1005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5 algorithmes </a:t>
            </a:r>
            <a:r>
              <a:rPr lang="en-US" sz="150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évalués</a:t>
            </a: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— du baseline </a:t>
            </a:r>
            <a:r>
              <a:rPr lang="en-US" sz="1500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linéaire</a:t>
            </a: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 au gradient boosting</a:t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57200" y="1417320"/>
            <a:ext cx="2157984" cy="50749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57200" y="1417320"/>
            <a:ext cx="2157984" cy="64008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566928" y="1554480"/>
            <a:ext cx="1938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Logistic</a:t>
            </a:r>
            <a:b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Regression 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566928" y="2286000"/>
            <a:ext cx="1938528" cy="27432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566928" y="228600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Baseline lineaire</a:t>
            </a:r>
            <a:endParaRPr/>
          </a:p>
        </p:txBody>
      </p:sp>
      <p:sp>
        <p:nvSpPr>
          <p:cNvPr id="303" name="Google Shape;303;p6"/>
          <p:cNvSpPr txBox="1"/>
          <p:nvPr/>
        </p:nvSpPr>
        <p:spPr>
          <a:xfrm>
            <a:off x="566928" y="2670048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Modele simple pour etablir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une performance de reference.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Interpretable mais limite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pour les patterns non-lineaires.</a:t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66928" y="4160520"/>
            <a:ext cx="1938528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566928" y="425196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 (CV)</a:t>
            </a:r>
            <a:endParaRPr/>
          </a:p>
        </p:txBody>
      </p:sp>
      <p:sp>
        <p:nvSpPr>
          <p:cNvPr id="306" name="Google Shape;306;p6"/>
          <p:cNvSpPr txBox="1"/>
          <p:nvPr/>
        </p:nvSpPr>
        <p:spPr>
          <a:xfrm>
            <a:off x="566928" y="4526280"/>
            <a:ext cx="19385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0.9211</a:t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2715768" y="1417320"/>
            <a:ext cx="2157984" cy="50749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715768" y="1417320"/>
            <a:ext cx="2157984" cy="64008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2825496" y="1554480"/>
            <a:ext cx="19385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b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2825496" y="2286000"/>
            <a:ext cx="1938528" cy="27432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2825496" y="228600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Arbre de decision</a:t>
            </a:r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2825496" y="2670048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Modele interpretable,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capture les non-linearites.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Tendance a l'overfitting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sans regularisation.</a:t>
            </a:r>
            <a:endParaRPr/>
          </a:p>
        </p:txBody>
      </p:sp>
      <p:sp>
        <p:nvSpPr>
          <p:cNvPr id="313" name="Google Shape;313;p6"/>
          <p:cNvSpPr/>
          <p:nvPr/>
        </p:nvSpPr>
        <p:spPr>
          <a:xfrm>
            <a:off x="2825496" y="4160520"/>
            <a:ext cx="1938528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2825496" y="425196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 (CV)</a:t>
            </a:r>
            <a:endParaRPr/>
          </a:p>
        </p:txBody>
      </p:sp>
      <p:sp>
        <p:nvSpPr>
          <p:cNvPr id="315" name="Google Shape;315;p6"/>
          <p:cNvSpPr txBox="1"/>
          <p:nvPr/>
        </p:nvSpPr>
        <p:spPr>
          <a:xfrm>
            <a:off x="2825496" y="4526280"/>
            <a:ext cx="19385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~1.000*</a:t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4974336" y="1417320"/>
            <a:ext cx="2157984" cy="5074920"/>
          </a:xfrm>
          <a:prstGeom prst="rect">
            <a:avLst/>
          </a:prstGeom>
          <a:solidFill>
            <a:srgbClr val="0A22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974336" y="1417320"/>
            <a:ext cx="2157984" cy="6400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5084064" y="1554480"/>
            <a:ext cx="19385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b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5084064" y="2286000"/>
            <a:ext cx="1938528" cy="27432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5084064" y="228600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Ensemble bagging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5084064" y="2670048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Agregation de 100+ arbres.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Robuste au bruit et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aux valeurs aberrantes.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Bonne generalisation.</a:t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5084064" y="4160520"/>
            <a:ext cx="1938528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 txBox="1"/>
          <p:nvPr/>
        </p:nvSpPr>
        <p:spPr>
          <a:xfrm>
            <a:off x="5084064" y="425196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 (CV)</a:t>
            </a:r>
            <a:endParaRPr/>
          </a:p>
        </p:txBody>
      </p:sp>
      <p:sp>
        <p:nvSpPr>
          <p:cNvPr id="324" name="Google Shape;324;p6"/>
          <p:cNvSpPr txBox="1"/>
          <p:nvPr/>
        </p:nvSpPr>
        <p:spPr>
          <a:xfrm>
            <a:off x="5084064" y="4526280"/>
            <a:ext cx="19385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0.9998</a:t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7232904" y="1417320"/>
            <a:ext cx="2157984" cy="5074920"/>
          </a:xfrm>
          <a:prstGeom prst="rect">
            <a:avLst/>
          </a:prstGeom>
          <a:solidFill>
            <a:srgbClr val="0A22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7232904" y="1417320"/>
            <a:ext cx="2157984" cy="6400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7342631" y="1554480"/>
            <a:ext cx="19385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328" name="Google Shape;328;p6"/>
          <p:cNvSpPr/>
          <p:nvPr/>
        </p:nvSpPr>
        <p:spPr>
          <a:xfrm>
            <a:off x="7342631" y="2286000"/>
            <a:ext cx="1938528" cy="27432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7342631" y="228600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</p:txBody>
      </p:sp>
      <p:sp>
        <p:nvSpPr>
          <p:cNvPr id="330" name="Google Shape;330;p6"/>
          <p:cNvSpPr txBox="1"/>
          <p:nvPr/>
        </p:nvSpPr>
        <p:spPr>
          <a:xfrm>
            <a:off x="7342631" y="2670048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Boosting sequentiel avec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regularisation L1/L2.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Tres performant sur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donnees tabulaires.</a:t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7342631" y="4160520"/>
            <a:ext cx="1938528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7342631" y="425196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 (CV)</a:t>
            </a:r>
            <a:endParaRPr/>
          </a:p>
        </p:txBody>
      </p:sp>
      <p:sp>
        <p:nvSpPr>
          <p:cNvPr id="333" name="Google Shape;333;p6"/>
          <p:cNvSpPr txBox="1"/>
          <p:nvPr/>
        </p:nvSpPr>
        <p:spPr>
          <a:xfrm>
            <a:off x="7342631" y="4526280"/>
            <a:ext cx="19385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0.9999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9491472" y="1417320"/>
            <a:ext cx="2157984" cy="5074920"/>
          </a:xfrm>
          <a:prstGeom prst="rect">
            <a:avLst/>
          </a:prstGeom>
          <a:solidFill>
            <a:srgbClr val="05183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9491472" y="1417320"/>
            <a:ext cx="2157984" cy="64008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9601200" y="1554480"/>
            <a:ext cx="193852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9601200" y="2286000"/>
            <a:ext cx="1938528" cy="274320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9601200" y="228600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Gradient boosting rapide</a:t>
            </a:r>
            <a:endParaRPr/>
          </a:p>
        </p:txBody>
      </p:sp>
      <p:sp>
        <p:nvSpPr>
          <p:cNvPr id="339" name="Google Shape;339;p6"/>
          <p:cNvSpPr txBox="1"/>
          <p:nvPr/>
        </p:nvSpPr>
        <p:spPr>
          <a:xfrm>
            <a:off x="9601200" y="2670048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Croissance par feuille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(leaf-wise). Plus rapide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et plus precis que XGBoost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sur grands datasets.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9601200" y="4160520"/>
            <a:ext cx="1938528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9601200" y="425196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 (CV)</a:t>
            </a:r>
            <a:endParaRPr/>
          </a:p>
        </p:txBody>
      </p:sp>
      <p:sp>
        <p:nvSpPr>
          <p:cNvPr id="342" name="Google Shape;342;p6"/>
          <p:cNvSpPr txBox="1"/>
          <p:nvPr/>
        </p:nvSpPr>
        <p:spPr>
          <a:xfrm>
            <a:off x="9601200" y="4526280"/>
            <a:ext cx="19385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0.9999</a:t>
            </a:r>
            <a:endParaRPr/>
          </a:p>
        </p:txBody>
      </p:sp>
      <p:sp>
        <p:nvSpPr>
          <p:cNvPr id="343" name="Google Shape;343;p6"/>
          <p:cNvSpPr/>
          <p:nvPr/>
        </p:nvSpPr>
        <p:spPr>
          <a:xfrm>
            <a:off x="9601200" y="5074920"/>
            <a:ext cx="1938528" cy="347472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9601200" y="5074920"/>
            <a:ext cx="193852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RETENU</a:t>
            </a:r>
            <a:endParaRPr/>
          </a:p>
        </p:txBody>
      </p:sp>
      <p:sp>
        <p:nvSpPr>
          <p:cNvPr id="345" name="Google Shape;345;p6"/>
          <p:cNvSpPr txBox="1"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* Decision Tree : accuracy parfaite en split aleatoire = signe de data leakage (Case 1)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51" name="Google Shape;351;p7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Choix des Metriques</a:t>
            </a:r>
            <a:endParaRPr/>
          </a:p>
        </p:txBody>
      </p:sp>
      <p:sp>
        <p:nvSpPr>
          <p:cNvPr id="352" name="Google Shape;352;p7"/>
          <p:cNvSpPr txBox="1"/>
          <p:nvPr/>
        </p:nvSpPr>
        <p:spPr>
          <a:xfrm>
            <a:off x="548640" y="937259"/>
            <a:ext cx="10058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Pourquoi ces metriques pour la detection de phishing ?</a:t>
            </a:r>
            <a:endParaRPr/>
          </a:p>
        </p:txBody>
      </p:sp>
      <p:sp>
        <p:nvSpPr>
          <p:cNvPr id="353" name="Google Shape;353;p7"/>
          <p:cNvSpPr/>
          <p:nvPr/>
        </p:nvSpPr>
        <p:spPr>
          <a:xfrm>
            <a:off x="457200" y="1444752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457200" y="1444752"/>
            <a:ext cx="54864" cy="1536192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640080" y="15361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356" name="Google Shape;356;p7"/>
          <p:cNvSpPr txBox="1"/>
          <p:nvPr/>
        </p:nvSpPr>
        <p:spPr>
          <a:xfrm>
            <a:off x="640080" y="1901952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Taux global de bonnes predictions sur l'ensemble du dataset.</a:t>
            </a:r>
            <a:endParaRPr/>
          </a:p>
        </p:txBody>
      </p:sp>
      <p:sp>
        <p:nvSpPr>
          <p:cNvPr id="357" name="Google Shape;357;p7"/>
          <p:cNvSpPr txBox="1"/>
          <p:nvPr/>
        </p:nvSpPr>
        <p:spPr>
          <a:xfrm>
            <a:off x="640080" y="228600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Donne une vue d'ensemble mais peut etre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trompeuse si les classes sont desequilibrees.</a:t>
            </a: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6309360" y="1444752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309360" y="1444752"/>
            <a:ext cx="54864" cy="1536192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6492240" y="15361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361" name="Google Shape;361;p7"/>
          <p:cNvSpPr txBox="1"/>
          <p:nvPr/>
        </p:nvSpPr>
        <p:spPr>
          <a:xfrm>
            <a:off x="6492240" y="1901952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Parmi les URLs classifiees phishing, quelle proportion l'est vraiment.</a:t>
            </a:r>
            <a:endParaRPr/>
          </a:p>
        </p:txBody>
      </p:sp>
      <p:sp>
        <p:nvSpPr>
          <p:cNvPr id="362" name="Google Shape;362;p7"/>
          <p:cNvSpPr txBox="1"/>
          <p:nvPr/>
        </p:nvSpPr>
        <p:spPr>
          <a:xfrm>
            <a:off x="6492240" y="228600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Minimise les faux positifs : eviter de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bloquer un site legitime a tort.</a:t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457200" y="3108960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457200" y="3108960"/>
            <a:ext cx="54864" cy="153619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640080" y="320040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368" name="Google Shape;368;p7"/>
          <p:cNvSpPr txBox="1"/>
          <p:nvPr/>
        </p:nvSpPr>
        <p:spPr>
          <a:xfrm>
            <a:off x="640080" y="3566160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Parmi tous les vrais phishing, quelle proportion est detectee.</a:t>
            </a:r>
            <a:endParaRPr/>
          </a:p>
        </p:txBody>
      </p:sp>
      <p:sp>
        <p:nvSpPr>
          <p:cNvPr id="369" name="Google Shape;369;p7"/>
          <p:cNvSpPr txBox="1"/>
          <p:nvPr/>
        </p:nvSpPr>
        <p:spPr>
          <a:xfrm>
            <a:off x="640080" y="3950208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Metrique CRITIQUE : manquer un phishing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expose l'utilisateur a une vraie attaque.</a:t>
            </a:r>
            <a:endParaRPr/>
          </a:p>
        </p:txBody>
      </p:sp>
      <p:sp>
        <p:nvSpPr>
          <p:cNvPr id="370" name="Google Shape;370;p7"/>
          <p:cNvSpPr/>
          <p:nvPr/>
        </p:nvSpPr>
        <p:spPr>
          <a:xfrm>
            <a:off x="6309360" y="3108960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6309360" y="3108960"/>
            <a:ext cx="54864" cy="1536192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 txBox="1"/>
          <p:nvPr/>
        </p:nvSpPr>
        <p:spPr>
          <a:xfrm>
            <a:off x="6492240" y="320040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6492240" y="3566160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Moyenne harmonique de la Precision et du Recall.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6492240" y="3950208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Equilibre les deux objectifs quand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les classes sont desequilibrees.</a:t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457200" y="4773168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457200" y="4773168"/>
            <a:ext cx="54864" cy="1536192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 txBox="1"/>
          <p:nvPr/>
        </p:nvSpPr>
        <p:spPr>
          <a:xfrm>
            <a:off x="640080" y="486460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6EFF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/>
          </a:p>
        </p:txBody>
      </p:sp>
      <p:sp>
        <p:nvSpPr>
          <p:cNvPr id="378" name="Google Shape;378;p7"/>
          <p:cNvSpPr txBox="1"/>
          <p:nvPr/>
        </p:nvSpPr>
        <p:spPr>
          <a:xfrm>
            <a:off x="640080" y="5230368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Capacite du modele a distinguer les deux classes sur tous les seuils.</a:t>
            </a:r>
            <a:endParaRPr/>
          </a:p>
        </p:txBody>
      </p:sp>
      <p:sp>
        <p:nvSpPr>
          <p:cNvPr id="379" name="Google Shape;379;p7"/>
          <p:cNvSpPr txBox="1"/>
          <p:nvPr/>
        </p:nvSpPr>
        <p:spPr>
          <a:xfrm>
            <a:off x="640080" y="5614416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Mesure independante du seuil de decision.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AUC = 1.0 : separation parfaite.</a:t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6309360" y="4773168"/>
            <a:ext cx="5532120" cy="153619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6309360" y="4773168"/>
            <a:ext cx="54864" cy="1536192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6492240" y="486460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PR-AUC</a:t>
            </a:r>
            <a:endParaRPr/>
          </a:p>
        </p:txBody>
      </p:sp>
      <p:sp>
        <p:nvSpPr>
          <p:cNvPr id="383" name="Google Shape;383;p7"/>
          <p:cNvSpPr txBox="1"/>
          <p:nvPr/>
        </p:nvSpPr>
        <p:spPr>
          <a:xfrm>
            <a:off x="6492240" y="5230368"/>
            <a:ext cx="5257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Aire sous la courbe Precision-Recall.</a:t>
            </a:r>
            <a:endParaRPr/>
          </a:p>
        </p:txBody>
      </p:sp>
      <p:sp>
        <p:nvSpPr>
          <p:cNvPr id="384" name="Google Shape;384;p7"/>
          <p:cNvSpPr txBox="1"/>
          <p:nvPr/>
        </p:nvSpPr>
        <p:spPr>
          <a:xfrm>
            <a:off x="6492240" y="5614416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Plus robuste que ROC-AUC quand</a:t>
            </a:r>
            <a:b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le dataset est desequilibre (57/43).</a:t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457200" y="6473952"/>
            <a:ext cx="11247120" cy="310896"/>
          </a:xfrm>
          <a:prstGeom prst="rect">
            <a:avLst/>
          </a:prstGeom>
          <a:solidFill>
            <a:srgbClr val="2A080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457200" y="6473952"/>
            <a:ext cx="54864" cy="310896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En detection de phishing, le Recall est prioritaire : un faux negatif (phishing non detecte) est bien plus couteux qu'un faux positif (site legitime bloque).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93" name="Google Shape;393;p8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 : LightGBM</a:t>
            </a:r>
            <a:endParaRPr/>
          </a:p>
        </p:txBody>
      </p:sp>
      <p:sp>
        <p:nvSpPr>
          <p:cNvPr id="394" name="Google Shape;394;p8"/>
          <p:cNvSpPr txBox="1"/>
          <p:nvPr/>
        </p:nvSpPr>
        <p:spPr>
          <a:xfrm>
            <a:off x="548640" y="77724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Sélection, entraînement, cross-validation et tuning</a:t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438900" y="1293873"/>
            <a:ext cx="5303400" cy="228600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457200" y="1298448"/>
            <a:ext cx="54864" cy="2286000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 txBox="1"/>
          <p:nvPr/>
        </p:nvSpPr>
        <p:spPr>
          <a:xfrm>
            <a:off x="667512" y="1389888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6EFF"/>
                </a:solidFill>
                <a:latin typeface="Calibri"/>
                <a:ea typeface="Calibri"/>
                <a:cs typeface="Calibri"/>
                <a:sym typeface="Calibri"/>
              </a:rPr>
              <a:t>Pourquoi LightGBM ?</a:t>
            </a:r>
            <a:endParaRPr/>
          </a:p>
        </p:txBody>
      </p:sp>
      <p:sp>
        <p:nvSpPr>
          <p:cNvPr id="398" name="Google Shape;398;p8"/>
          <p:cNvSpPr/>
          <p:nvPr/>
        </p:nvSpPr>
        <p:spPr>
          <a:xfrm>
            <a:off x="667512" y="1901952"/>
            <a:ext cx="201168" cy="201168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667500" y="1929058"/>
            <a:ext cx="2208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7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35"/>
          </a:p>
        </p:txBody>
      </p:sp>
      <p:sp>
        <p:nvSpPr>
          <p:cNvPr id="400" name="Google Shape;400;p8"/>
          <p:cNvSpPr txBox="1"/>
          <p:nvPr/>
        </p:nvSpPr>
        <p:spPr>
          <a:xfrm>
            <a:off x="1016286" y="1846425"/>
            <a:ext cx="49626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Rapide sur grands datasets (189K+ lignes)</a:t>
            </a:r>
            <a:endParaRPr sz="1535"/>
          </a:p>
        </p:txBody>
      </p:sp>
      <p:sp>
        <p:nvSpPr>
          <p:cNvPr id="401" name="Google Shape;401;p8"/>
          <p:cNvSpPr/>
          <p:nvPr/>
        </p:nvSpPr>
        <p:spPr>
          <a:xfrm>
            <a:off x="659574" y="2466827"/>
            <a:ext cx="201300" cy="201300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659550" y="2515067"/>
            <a:ext cx="201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7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35"/>
          </a:p>
        </p:txBody>
      </p:sp>
      <p:sp>
        <p:nvSpPr>
          <p:cNvPr id="403" name="Google Shape;403;p8"/>
          <p:cNvSpPr txBox="1"/>
          <p:nvPr/>
        </p:nvSpPr>
        <p:spPr>
          <a:xfrm>
            <a:off x="1008361" y="2455412"/>
            <a:ext cx="49626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Gere nativement variables mixtes (int + float)</a:t>
            </a:r>
            <a:endParaRPr sz="1535"/>
          </a:p>
        </p:txBody>
      </p:sp>
      <p:sp>
        <p:nvSpPr>
          <p:cNvPr id="404" name="Google Shape;404;p8"/>
          <p:cNvSpPr/>
          <p:nvPr/>
        </p:nvSpPr>
        <p:spPr>
          <a:xfrm>
            <a:off x="659637" y="3054102"/>
            <a:ext cx="201300" cy="201300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649813" y="3078795"/>
            <a:ext cx="2208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7" b="1" i="0" u="none" strike="noStrike" cap="non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35"/>
          </a:p>
        </p:txBody>
      </p:sp>
      <p:sp>
        <p:nvSpPr>
          <p:cNvPr id="406" name="Google Shape;406;p8"/>
          <p:cNvSpPr txBox="1"/>
          <p:nvPr/>
        </p:nvSpPr>
        <p:spPr>
          <a:xfrm>
            <a:off x="1008361" y="3082024"/>
            <a:ext cx="49626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700" tIns="0" rIns="557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Excellente performance sans beaucoup de tuning</a:t>
            </a:r>
            <a:endParaRPr sz="1535"/>
          </a:p>
        </p:txBody>
      </p:sp>
      <p:sp>
        <p:nvSpPr>
          <p:cNvPr id="407" name="Google Shape;407;p8"/>
          <p:cNvSpPr/>
          <p:nvPr/>
        </p:nvSpPr>
        <p:spPr>
          <a:xfrm>
            <a:off x="457200" y="3749039"/>
            <a:ext cx="5303520" cy="269748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457200" y="3749039"/>
            <a:ext cx="54864" cy="269748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 txBox="1"/>
          <p:nvPr/>
        </p:nvSpPr>
        <p:spPr>
          <a:xfrm>
            <a:off x="667512" y="3840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Cross-Validation (5-Fold StratifiedGroupKFold)</a:t>
            </a:r>
            <a:endParaRPr/>
          </a:p>
        </p:txBody>
      </p:sp>
      <p:sp>
        <p:nvSpPr>
          <p:cNvPr id="410" name="Google Shape;410;p8"/>
          <p:cNvSpPr txBox="1"/>
          <p:nvPr/>
        </p:nvSpPr>
        <p:spPr>
          <a:xfrm>
            <a:off x="667512" y="42793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endParaRPr/>
          </a:p>
        </p:txBody>
      </p:sp>
      <p:sp>
        <p:nvSpPr>
          <p:cNvPr id="411" name="Google Shape;411;p8"/>
          <p:cNvSpPr txBox="1"/>
          <p:nvPr/>
        </p:nvSpPr>
        <p:spPr>
          <a:xfrm>
            <a:off x="2468880" y="42793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412" name="Google Shape;412;p8"/>
          <p:cNvSpPr txBox="1"/>
          <p:nvPr/>
        </p:nvSpPr>
        <p:spPr>
          <a:xfrm>
            <a:off x="3611880" y="42793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Prec.</a:t>
            </a:r>
            <a:endParaRPr/>
          </a:p>
        </p:txBody>
      </p:sp>
      <p:sp>
        <p:nvSpPr>
          <p:cNvPr id="413" name="Google Shape;413;p8"/>
          <p:cNvSpPr txBox="1"/>
          <p:nvPr/>
        </p:nvSpPr>
        <p:spPr>
          <a:xfrm>
            <a:off x="4572000" y="42793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594360" y="4572000"/>
            <a:ext cx="5029200" cy="27432"/>
          </a:xfrm>
          <a:prstGeom prst="rect">
            <a:avLst/>
          </a:prstGeom>
          <a:solidFill>
            <a:srgbClr val="263D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667512" y="4645152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Logistic Reg.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2468880" y="464515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0.9211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3611880" y="464515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0.9218</a:t>
            </a:r>
            <a:endParaRPr/>
          </a:p>
        </p:txBody>
      </p:sp>
      <p:sp>
        <p:nvSpPr>
          <p:cNvPr id="418" name="Google Shape;418;p8"/>
          <p:cNvSpPr txBox="1"/>
          <p:nvPr/>
        </p:nvSpPr>
        <p:spPr>
          <a:xfrm>
            <a:off x="4617720" y="464515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0.9189</a:t>
            </a:r>
            <a:endParaRPr/>
          </a:p>
        </p:txBody>
      </p:sp>
      <p:sp>
        <p:nvSpPr>
          <p:cNvPr id="419" name="Google Shape;419;p8"/>
          <p:cNvSpPr txBox="1"/>
          <p:nvPr/>
        </p:nvSpPr>
        <p:spPr>
          <a:xfrm>
            <a:off x="667512" y="507492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420" name="Google Shape;420;p8"/>
          <p:cNvSpPr txBox="1"/>
          <p:nvPr/>
        </p:nvSpPr>
        <p:spPr>
          <a:xfrm>
            <a:off x="2468880" y="507492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0.9958</a:t>
            </a:r>
            <a:endParaRPr/>
          </a:p>
        </p:txBody>
      </p:sp>
      <p:sp>
        <p:nvSpPr>
          <p:cNvPr id="421" name="Google Shape;421;p8"/>
          <p:cNvSpPr txBox="1"/>
          <p:nvPr/>
        </p:nvSpPr>
        <p:spPr>
          <a:xfrm>
            <a:off x="3611880" y="5074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0.9962</a:t>
            </a:r>
            <a:endParaRPr/>
          </a:p>
        </p:txBody>
      </p:sp>
      <p:sp>
        <p:nvSpPr>
          <p:cNvPr id="422" name="Google Shape;422;p8"/>
          <p:cNvSpPr txBox="1"/>
          <p:nvPr/>
        </p:nvSpPr>
        <p:spPr>
          <a:xfrm>
            <a:off x="4617720" y="5074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0.9952</a:t>
            </a:r>
            <a:endParaRPr/>
          </a:p>
        </p:txBody>
      </p:sp>
      <p:sp>
        <p:nvSpPr>
          <p:cNvPr id="423" name="Google Shape;423;p8"/>
          <p:cNvSpPr txBox="1"/>
          <p:nvPr/>
        </p:nvSpPr>
        <p:spPr>
          <a:xfrm>
            <a:off x="667512" y="5504688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424" name="Google Shape;424;p8"/>
          <p:cNvSpPr txBox="1"/>
          <p:nvPr/>
        </p:nvSpPr>
        <p:spPr>
          <a:xfrm>
            <a:off x="2468880" y="550468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0.9992</a:t>
            </a:r>
            <a:endParaRPr/>
          </a:p>
        </p:txBody>
      </p:sp>
      <p:sp>
        <p:nvSpPr>
          <p:cNvPr id="425" name="Google Shape;425;p8"/>
          <p:cNvSpPr txBox="1"/>
          <p:nvPr/>
        </p:nvSpPr>
        <p:spPr>
          <a:xfrm>
            <a:off x="3611880" y="550468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0.9993</a:t>
            </a:r>
            <a:endParaRPr/>
          </a:p>
        </p:txBody>
      </p:sp>
      <p:sp>
        <p:nvSpPr>
          <p:cNvPr id="426" name="Google Shape;426;p8"/>
          <p:cNvSpPr txBox="1"/>
          <p:nvPr/>
        </p:nvSpPr>
        <p:spPr>
          <a:xfrm>
            <a:off x="4617720" y="550468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0.9991</a:t>
            </a:r>
            <a:endParaRPr/>
          </a:p>
        </p:txBody>
      </p:sp>
      <p:sp>
        <p:nvSpPr>
          <p:cNvPr id="427" name="Google Shape;427;p8"/>
          <p:cNvSpPr/>
          <p:nvPr/>
        </p:nvSpPr>
        <p:spPr>
          <a:xfrm>
            <a:off x="594360" y="5897880"/>
            <a:ext cx="5029200" cy="384048"/>
          </a:xfrm>
          <a:prstGeom prst="rect">
            <a:avLst/>
          </a:prstGeom>
          <a:solidFill>
            <a:srgbClr val="0D203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 txBox="1"/>
          <p:nvPr/>
        </p:nvSpPr>
        <p:spPr>
          <a:xfrm>
            <a:off x="667512" y="5934456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/>
          </a:p>
        </p:txBody>
      </p:sp>
      <p:sp>
        <p:nvSpPr>
          <p:cNvPr id="429" name="Google Shape;429;p8"/>
          <p:cNvSpPr txBox="1"/>
          <p:nvPr/>
        </p:nvSpPr>
        <p:spPr>
          <a:xfrm>
            <a:off x="2468880" y="593445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0.9994</a:t>
            </a:r>
            <a:endParaRPr/>
          </a:p>
        </p:txBody>
      </p:sp>
      <p:sp>
        <p:nvSpPr>
          <p:cNvPr id="430" name="Google Shape;430;p8"/>
          <p:cNvSpPr txBox="1"/>
          <p:nvPr/>
        </p:nvSpPr>
        <p:spPr>
          <a:xfrm>
            <a:off x="3611880" y="59344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0.9995</a:t>
            </a:r>
            <a:endParaRPr/>
          </a:p>
        </p:txBody>
      </p:sp>
      <p:sp>
        <p:nvSpPr>
          <p:cNvPr id="431" name="Google Shape;431;p8"/>
          <p:cNvSpPr txBox="1"/>
          <p:nvPr/>
        </p:nvSpPr>
        <p:spPr>
          <a:xfrm>
            <a:off x="4617720" y="59344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0.9993</a:t>
            </a:r>
            <a:endParaRPr/>
          </a:p>
        </p:txBody>
      </p:sp>
      <p:sp>
        <p:nvSpPr>
          <p:cNvPr id="432" name="Google Shape;432;p8"/>
          <p:cNvSpPr/>
          <p:nvPr/>
        </p:nvSpPr>
        <p:spPr>
          <a:xfrm>
            <a:off x="6126480" y="1298448"/>
            <a:ext cx="5623560" cy="5148072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6126480" y="1298448"/>
            <a:ext cx="54864" cy="5148072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 txBox="1"/>
          <p:nvPr/>
        </p:nvSpPr>
        <p:spPr>
          <a:xfrm>
            <a:off x="6336792" y="138988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06EFF"/>
                </a:solidFill>
                <a:latin typeface="Calibri"/>
                <a:ea typeface="Calibri"/>
                <a:cs typeface="Calibri"/>
                <a:sym typeface="Calibri"/>
              </a:rPr>
              <a:t>Hyperparamètres (après RandomizedSearchCV)</a:t>
            </a:r>
            <a:endParaRPr/>
          </a:p>
        </p:txBody>
      </p:sp>
      <p:sp>
        <p:nvSpPr>
          <p:cNvPr id="435" name="Google Shape;435;p8"/>
          <p:cNvSpPr/>
          <p:nvPr/>
        </p:nvSpPr>
        <p:spPr>
          <a:xfrm>
            <a:off x="6263640" y="1828800"/>
            <a:ext cx="5349240" cy="292608"/>
          </a:xfrm>
          <a:prstGeom prst="rect">
            <a:avLst/>
          </a:prstGeom>
          <a:solidFill>
            <a:srgbClr val="1A1A3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6336792" y="186537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Paramètre</a:t>
            </a:r>
            <a:endParaRPr/>
          </a:p>
        </p:txBody>
      </p:sp>
      <p:sp>
        <p:nvSpPr>
          <p:cNvPr id="437" name="Google Shape;437;p8"/>
          <p:cNvSpPr txBox="1"/>
          <p:nvPr/>
        </p:nvSpPr>
        <p:spPr>
          <a:xfrm>
            <a:off x="8458200" y="1865376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Valeur</a:t>
            </a:r>
            <a:endParaRPr/>
          </a:p>
        </p:txBody>
      </p:sp>
      <p:sp>
        <p:nvSpPr>
          <p:cNvPr id="438" name="Google Shape;438;p8"/>
          <p:cNvSpPr txBox="1"/>
          <p:nvPr/>
        </p:nvSpPr>
        <p:spPr>
          <a:xfrm>
            <a:off x="918972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Rôle</a:t>
            </a:r>
            <a:endParaRPr/>
          </a:p>
        </p:txBody>
      </p:sp>
      <p:sp>
        <p:nvSpPr>
          <p:cNvPr id="439" name="Google Shape;439;p8"/>
          <p:cNvSpPr/>
          <p:nvPr/>
        </p:nvSpPr>
        <p:spPr>
          <a:xfrm>
            <a:off x="6263640" y="2157984"/>
            <a:ext cx="5349240" cy="457200"/>
          </a:xfrm>
          <a:prstGeom prst="rect">
            <a:avLst/>
          </a:prstGeom>
          <a:solidFill>
            <a:srgbClr val="0D203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 txBox="1"/>
          <p:nvPr/>
        </p:nvSpPr>
        <p:spPr>
          <a:xfrm>
            <a:off x="6336792" y="21945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n_estimators</a:t>
            </a:r>
            <a:endParaRPr/>
          </a:p>
        </p:txBody>
      </p:sp>
      <p:sp>
        <p:nvSpPr>
          <p:cNvPr id="441" name="Google Shape;441;p8"/>
          <p:cNvSpPr txBox="1"/>
          <p:nvPr/>
        </p:nvSpPr>
        <p:spPr>
          <a:xfrm>
            <a:off x="8458200" y="219456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/>
          </a:p>
        </p:txBody>
      </p:sp>
      <p:sp>
        <p:nvSpPr>
          <p:cNvPr id="442" name="Google Shape;442;p8"/>
          <p:cNvSpPr txBox="1"/>
          <p:nvPr/>
        </p:nvSpPr>
        <p:spPr>
          <a:xfrm>
            <a:off x="9189720" y="219456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Nombre d'arbres</a:t>
            </a:r>
            <a:endParaRPr/>
          </a:p>
        </p:txBody>
      </p:sp>
      <p:sp>
        <p:nvSpPr>
          <p:cNvPr id="443" name="Google Shape;443;p8"/>
          <p:cNvSpPr txBox="1"/>
          <p:nvPr/>
        </p:nvSpPr>
        <p:spPr>
          <a:xfrm>
            <a:off x="6336792" y="270662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learning_rate</a:t>
            </a:r>
            <a:endParaRPr/>
          </a:p>
        </p:txBody>
      </p:sp>
      <p:sp>
        <p:nvSpPr>
          <p:cNvPr id="444" name="Google Shape;444;p8"/>
          <p:cNvSpPr txBox="1"/>
          <p:nvPr/>
        </p:nvSpPr>
        <p:spPr>
          <a:xfrm>
            <a:off x="8458200" y="270662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/>
          </a:p>
        </p:txBody>
      </p:sp>
      <p:sp>
        <p:nvSpPr>
          <p:cNvPr id="445" name="Google Shape;445;p8"/>
          <p:cNvSpPr txBox="1"/>
          <p:nvPr/>
        </p:nvSpPr>
        <p:spPr>
          <a:xfrm>
            <a:off x="9189720" y="270662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Pas d'apprentissage</a:t>
            </a:r>
            <a:endParaRPr/>
          </a:p>
        </p:txBody>
      </p:sp>
      <p:sp>
        <p:nvSpPr>
          <p:cNvPr id="446" name="Google Shape;446;p8"/>
          <p:cNvSpPr/>
          <p:nvPr/>
        </p:nvSpPr>
        <p:spPr>
          <a:xfrm>
            <a:off x="6263640" y="3182112"/>
            <a:ext cx="5349240" cy="457200"/>
          </a:xfrm>
          <a:prstGeom prst="rect">
            <a:avLst/>
          </a:prstGeom>
          <a:solidFill>
            <a:srgbClr val="0D203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6336792" y="32186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num_leaves</a:t>
            </a:r>
            <a:endParaRPr/>
          </a:p>
        </p:txBody>
      </p:sp>
      <p:sp>
        <p:nvSpPr>
          <p:cNvPr id="448" name="Google Shape;448;p8"/>
          <p:cNvSpPr txBox="1"/>
          <p:nvPr/>
        </p:nvSpPr>
        <p:spPr>
          <a:xfrm>
            <a:off x="8458200" y="3218688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49" name="Google Shape;449;p8"/>
          <p:cNvSpPr txBox="1"/>
          <p:nvPr/>
        </p:nvSpPr>
        <p:spPr>
          <a:xfrm>
            <a:off x="9189720" y="321868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Feuilles par arbre (contrôle complexité)</a:t>
            </a:r>
            <a:endParaRPr/>
          </a:p>
        </p:txBody>
      </p:sp>
      <p:sp>
        <p:nvSpPr>
          <p:cNvPr id="450" name="Google Shape;450;p8"/>
          <p:cNvSpPr txBox="1"/>
          <p:nvPr/>
        </p:nvSpPr>
        <p:spPr>
          <a:xfrm>
            <a:off x="6336792" y="373075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max_depth</a:t>
            </a:r>
            <a:endParaRPr/>
          </a:p>
        </p:txBody>
      </p:sp>
      <p:sp>
        <p:nvSpPr>
          <p:cNvPr id="451" name="Google Shape;451;p8"/>
          <p:cNvSpPr txBox="1"/>
          <p:nvPr/>
        </p:nvSpPr>
        <p:spPr>
          <a:xfrm>
            <a:off x="8458200" y="373075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52" name="Google Shape;452;p8"/>
          <p:cNvSpPr txBox="1"/>
          <p:nvPr/>
        </p:nvSpPr>
        <p:spPr>
          <a:xfrm>
            <a:off x="9189720" y="37307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Profondeur max</a:t>
            </a:r>
            <a:endParaRPr/>
          </a:p>
        </p:txBody>
      </p:sp>
      <p:sp>
        <p:nvSpPr>
          <p:cNvPr id="453" name="Google Shape;453;p8"/>
          <p:cNvSpPr/>
          <p:nvPr/>
        </p:nvSpPr>
        <p:spPr>
          <a:xfrm>
            <a:off x="6263640" y="4206240"/>
            <a:ext cx="5349240" cy="457200"/>
          </a:xfrm>
          <a:prstGeom prst="rect">
            <a:avLst/>
          </a:prstGeom>
          <a:solidFill>
            <a:srgbClr val="0D203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 txBox="1"/>
          <p:nvPr/>
        </p:nvSpPr>
        <p:spPr>
          <a:xfrm>
            <a:off x="6336792" y="424281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min_child_samples</a:t>
            </a:r>
            <a:endParaRPr/>
          </a:p>
        </p:txBody>
      </p:sp>
      <p:sp>
        <p:nvSpPr>
          <p:cNvPr id="455" name="Google Shape;455;p8"/>
          <p:cNvSpPr txBox="1"/>
          <p:nvPr/>
        </p:nvSpPr>
        <p:spPr>
          <a:xfrm>
            <a:off x="8458200" y="42428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56" name="Google Shape;456;p8"/>
          <p:cNvSpPr txBox="1"/>
          <p:nvPr/>
        </p:nvSpPr>
        <p:spPr>
          <a:xfrm>
            <a:off x="9189720" y="424281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Min. samples par feuille (régularisation)</a:t>
            </a:r>
            <a:endParaRPr/>
          </a:p>
        </p:txBody>
      </p:sp>
      <p:sp>
        <p:nvSpPr>
          <p:cNvPr id="457" name="Google Shape;457;p8"/>
          <p:cNvSpPr txBox="1"/>
          <p:nvPr/>
        </p:nvSpPr>
        <p:spPr>
          <a:xfrm>
            <a:off x="6336792" y="4754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subsample</a:t>
            </a:r>
            <a:endParaRPr/>
          </a:p>
        </p:txBody>
      </p:sp>
      <p:sp>
        <p:nvSpPr>
          <p:cNvPr id="458" name="Google Shape;458;p8"/>
          <p:cNvSpPr txBox="1"/>
          <p:nvPr/>
        </p:nvSpPr>
        <p:spPr>
          <a:xfrm>
            <a:off x="8458200" y="475488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/>
          </a:p>
        </p:txBody>
      </p:sp>
      <p:sp>
        <p:nvSpPr>
          <p:cNvPr id="459" name="Google Shape;459;p8"/>
          <p:cNvSpPr txBox="1"/>
          <p:nvPr/>
        </p:nvSpPr>
        <p:spPr>
          <a:xfrm>
            <a:off x="9189720" y="475488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Fraction de données par arbre</a:t>
            </a:r>
            <a:endParaRPr/>
          </a:p>
        </p:txBody>
      </p:sp>
      <p:sp>
        <p:nvSpPr>
          <p:cNvPr id="460" name="Google Shape;460;p8"/>
          <p:cNvSpPr/>
          <p:nvPr/>
        </p:nvSpPr>
        <p:spPr>
          <a:xfrm>
            <a:off x="6263640" y="5230368"/>
            <a:ext cx="5349240" cy="457200"/>
          </a:xfrm>
          <a:prstGeom prst="rect">
            <a:avLst/>
          </a:prstGeom>
          <a:solidFill>
            <a:srgbClr val="0D203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 txBox="1"/>
          <p:nvPr/>
        </p:nvSpPr>
        <p:spPr>
          <a:xfrm>
            <a:off x="6336792" y="52669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C2FF"/>
                </a:solidFill>
                <a:latin typeface="Consolas"/>
                <a:ea typeface="Consolas"/>
                <a:cs typeface="Consolas"/>
                <a:sym typeface="Consolas"/>
              </a:rPr>
              <a:t>colsample_bytree</a:t>
            </a:r>
            <a:endParaRPr/>
          </a:p>
        </p:txBody>
      </p:sp>
      <p:sp>
        <p:nvSpPr>
          <p:cNvPr id="462" name="Google Shape;462;p8"/>
          <p:cNvSpPr txBox="1"/>
          <p:nvPr/>
        </p:nvSpPr>
        <p:spPr>
          <a:xfrm>
            <a:off x="8458200" y="526694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463" name="Google Shape;463;p8"/>
          <p:cNvSpPr txBox="1"/>
          <p:nvPr/>
        </p:nvSpPr>
        <p:spPr>
          <a:xfrm>
            <a:off x="9189720" y="52669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Fraction de features par arbre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"/>
          <p:cNvSpPr txBox="1"/>
          <p:nvPr/>
        </p:nvSpPr>
        <p:spPr>
          <a:xfrm>
            <a:off x="11247120" y="18288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469" name="Google Shape;469;p9"/>
          <p:cNvSpPr txBox="1"/>
          <p:nvPr/>
        </p:nvSpPr>
        <p:spPr>
          <a:xfrm>
            <a:off x="548640" y="228600"/>
            <a:ext cx="822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</a:t>
            </a:r>
            <a:endParaRPr/>
          </a:p>
        </p:txBody>
      </p:sp>
      <p:sp>
        <p:nvSpPr>
          <p:cNvPr id="470" name="Google Shape;470;p9"/>
          <p:cNvSpPr txBox="1"/>
          <p:nvPr/>
        </p:nvSpPr>
        <p:spPr>
          <a:xfrm>
            <a:off x="548640" y="777240"/>
            <a:ext cx="10972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Évaluation finale </a:t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411480" y="1325880"/>
            <a:ext cx="2103120" cy="11887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411480" y="1325880"/>
            <a:ext cx="2103120" cy="64008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 txBox="1"/>
          <p:nvPr/>
        </p:nvSpPr>
        <p:spPr>
          <a:xfrm>
            <a:off x="411480" y="14630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99.99%</a:t>
            </a:r>
            <a:endParaRPr/>
          </a:p>
        </p:txBody>
      </p:sp>
      <p:sp>
        <p:nvSpPr>
          <p:cNvPr id="474" name="Google Shape;474;p9"/>
          <p:cNvSpPr txBox="1"/>
          <p:nvPr/>
        </p:nvSpPr>
        <p:spPr>
          <a:xfrm>
            <a:off x="411480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2743200" y="1325880"/>
            <a:ext cx="2103120" cy="11887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2743200" y="1325880"/>
            <a:ext cx="2103120" cy="64008"/>
          </a:xfrm>
          <a:prstGeom prst="rect">
            <a:avLst/>
          </a:prstGeom>
          <a:solidFill>
            <a:srgbClr val="00C8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 txBox="1"/>
          <p:nvPr/>
        </p:nvSpPr>
        <p:spPr>
          <a:xfrm>
            <a:off x="2743200" y="14630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99.99%</a:t>
            </a:r>
            <a:endParaRPr/>
          </a:p>
        </p:txBody>
      </p:sp>
      <p:sp>
        <p:nvSpPr>
          <p:cNvPr id="478" name="Google Shape;478;p9"/>
          <p:cNvSpPr txBox="1"/>
          <p:nvPr/>
        </p:nvSpPr>
        <p:spPr>
          <a:xfrm>
            <a:off x="2743200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5074920" y="1325880"/>
            <a:ext cx="2103120" cy="11887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5074920" y="1325880"/>
            <a:ext cx="2103120" cy="64008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 txBox="1"/>
          <p:nvPr/>
        </p:nvSpPr>
        <p:spPr>
          <a:xfrm>
            <a:off x="5074920" y="14630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482" name="Google Shape;482;p9"/>
          <p:cNvSpPr txBox="1"/>
          <p:nvPr/>
        </p:nvSpPr>
        <p:spPr>
          <a:xfrm>
            <a:off x="5074920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7406640" y="1325880"/>
            <a:ext cx="2103120" cy="11887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7406640" y="1325880"/>
            <a:ext cx="2103120" cy="64008"/>
          </a:xfrm>
          <a:prstGeom prst="rect">
            <a:avLst/>
          </a:prstGeom>
          <a:solidFill>
            <a:srgbClr val="A06E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 txBox="1"/>
          <p:nvPr/>
        </p:nvSpPr>
        <p:spPr>
          <a:xfrm>
            <a:off x="7406640" y="14630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A06EFF"/>
                </a:solidFill>
                <a:latin typeface="Calibri"/>
                <a:ea typeface="Calibri"/>
                <a:cs typeface="Calibri"/>
                <a:sym typeface="Calibri"/>
              </a:rPr>
              <a:t>99.99%</a:t>
            </a:r>
            <a:endParaRPr/>
          </a:p>
        </p:txBody>
      </p:sp>
      <p:sp>
        <p:nvSpPr>
          <p:cNvPr id="486" name="Google Shape;486;p9"/>
          <p:cNvSpPr txBox="1"/>
          <p:nvPr/>
        </p:nvSpPr>
        <p:spPr>
          <a:xfrm>
            <a:off x="7406640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9738359" y="1325880"/>
            <a:ext cx="2103120" cy="118872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9738359" y="1325880"/>
            <a:ext cx="2103120" cy="64008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 txBox="1"/>
          <p:nvPr/>
        </p:nvSpPr>
        <p:spPr>
          <a:xfrm>
            <a:off x="9738359" y="146304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9738359" y="21488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ROC-AUC</a:t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>
            <a:off x="457200" y="2743200"/>
            <a:ext cx="5486400" cy="384048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457200" y="2743200"/>
            <a:ext cx="54864" cy="3840480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 txBox="1"/>
          <p:nvPr/>
        </p:nvSpPr>
        <p:spPr>
          <a:xfrm>
            <a:off x="685800" y="283464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C2FF"/>
                </a:solidFill>
                <a:latin typeface="Calibri"/>
                <a:ea typeface="Calibri"/>
                <a:cs typeface="Calibri"/>
                <a:sym typeface="Calibri"/>
              </a:rPr>
              <a:t>Top Features  -  Importance LightGBM</a:t>
            </a:r>
            <a:endParaRPr/>
          </a:p>
        </p:txBody>
      </p:sp>
      <p:sp>
        <p:nvSpPr>
          <p:cNvPr id="494" name="Google Shape;494;p9"/>
          <p:cNvSpPr/>
          <p:nvPr/>
        </p:nvSpPr>
        <p:spPr>
          <a:xfrm>
            <a:off x="2331720" y="3355848"/>
            <a:ext cx="2896819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 txBox="1"/>
          <p:nvPr/>
        </p:nvSpPr>
        <p:spPr>
          <a:xfrm>
            <a:off x="685800" y="3310128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NoOfExternalRef</a:t>
            </a:r>
            <a:endParaRPr/>
          </a:p>
        </p:txBody>
      </p:sp>
      <p:sp>
        <p:nvSpPr>
          <p:cNvPr id="496" name="Google Shape;496;p9"/>
          <p:cNvSpPr txBox="1"/>
          <p:nvPr/>
        </p:nvSpPr>
        <p:spPr>
          <a:xfrm>
            <a:off x="5274259" y="3346704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96%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2331720" y="3703320"/>
            <a:ext cx="2474366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 txBox="1"/>
          <p:nvPr/>
        </p:nvSpPr>
        <p:spPr>
          <a:xfrm>
            <a:off x="685800" y="365760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NoOfImage</a:t>
            </a:r>
            <a:endParaRPr/>
          </a:p>
        </p:txBody>
      </p:sp>
      <p:sp>
        <p:nvSpPr>
          <p:cNvPr id="499" name="Google Shape;499;p9"/>
          <p:cNvSpPr txBox="1"/>
          <p:nvPr/>
        </p:nvSpPr>
        <p:spPr>
          <a:xfrm>
            <a:off x="4851806" y="369417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82%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2331720" y="4050791"/>
            <a:ext cx="2383840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 txBox="1"/>
          <p:nvPr/>
        </p:nvSpPr>
        <p:spPr>
          <a:xfrm>
            <a:off x="685800" y="4005072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NoOfCSS</a:t>
            </a:r>
            <a:endParaRPr/>
          </a:p>
        </p:txBody>
      </p:sp>
      <p:sp>
        <p:nvSpPr>
          <p:cNvPr id="502" name="Google Shape;502;p9"/>
          <p:cNvSpPr txBox="1"/>
          <p:nvPr/>
        </p:nvSpPr>
        <p:spPr>
          <a:xfrm>
            <a:off x="4761280" y="4041648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79%</a:t>
            </a:r>
            <a:endParaRPr/>
          </a:p>
        </p:txBody>
      </p:sp>
      <p:sp>
        <p:nvSpPr>
          <p:cNvPr id="503" name="Google Shape;503;p9"/>
          <p:cNvSpPr/>
          <p:nvPr/>
        </p:nvSpPr>
        <p:spPr>
          <a:xfrm>
            <a:off x="2331720" y="4398264"/>
            <a:ext cx="2232964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 txBox="1"/>
          <p:nvPr/>
        </p:nvSpPr>
        <p:spPr>
          <a:xfrm>
            <a:off x="685800" y="4352544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NoOfSelfRef</a:t>
            </a:r>
            <a:endParaRPr/>
          </a:p>
        </p:txBody>
      </p:sp>
      <p:sp>
        <p:nvSpPr>
          <p:cNvPr id="505" name="Google Shape;505;p9"/>
          <p:cNvSpPr txBox="1"/>
          <p:nvPr/>
        </p:nvSpPr>
        <p:spPr>
          <a:xfrm>
            <a:off x="4610404" y="4389120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2331720" y="4745736"/>
            <a:ext cx="2112263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 txBox="1"/>
          <p:nvPr/>
        </p:nvSpPr>
        <p:spPr>
          <a:xfrm>
            <a:off x="685800" y="4700016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LineOfCode</a:t>
            </a:r>
            <a:endParaRPr/>
          </a:p>
        </p:txBody>
      </p:sp>
      <p:sp>
        <p:nvSpPr>
          <p:cNvPr id="508" name="Google Shape;508;p9"/>
          <p:cNvSpPr txBox="1"/>
          <p:nvPr/>
        </p:nvSpPr>
        <p:spPr>
          <a:xfrm>
            <a:off x="4489703" y="473659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/>
          </a:p>
        </p:txBody>
      </p:sp>
      <p:sp>
        <p:nvSpPr>
          <p:cNvPr id="509" name="Google Shape;509;p9"/>
          <p:cNvSpPr/>
          <p:nvPr/>
        </p:nvSpPr>
        <p:spPr>
          <a:xfrm>
            <a:off x="2331720" y="5093207"/>
            <a:ext cx="1961388" cy="219456"/>
          </a:xfrm>
          <a:prstGeom prst="rect">
            <a:avLst/>
          </a:prstGeom>
          <a:solidFill>
            <a:srgbClr val="00C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 txBox="1"/>
          <p:nvPr/>
        </p:nvSpPr>
        <p:spPr>
          <a:xfrm>
            <a:off x="685800" y="5047488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NoOfEmptyRef</a:t>
            </a:r>
            <a:endParaRPr/>
          </a:p>
        </p:txBody>
      </p:sp>
      <p:sp>
        <p:nvSpPr>
          <p:cNvPr id="511" name="Google Shape;511;p9"/>
          <p:cNvSpPr txBox="1"/>
          <p:nvPr/>
        </p:nvSpPr>
        <p:spPr>
          <a:xfrm>
            <a:off x="4338828" y="5084064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2331720" y="5440680"/>
            <a:ext cx="1750161" cy="219456"/>
          </a:xfrm>
          <a:prstGeom prst="rect">
            <a:avLst/>
          </a:prstGeom>
          <a:solidFill>
            <a:srgbClr val="0080A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 txBox="1"/>
          <p:nvPr/>
        </p:nvSpPr>
        <p:spPr>
          <a:xfrm>
            <a:off x="685800" y="539496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URLLength</a:t>
            </a:r>
            <a:endParaRPr/>
          </a:p>
        </p:txBody>
      </p:sp>
      <p:sp>
        <p:nvSpPr>
          <p:cNvPr id="514" name="Google Shape;514;p9"/>
          <p:cNvSpPr txBox="1"/>
          <p:nvPr/>
        </p:nvSpPr>
        <p:spPr>
          <a:xfrm>
            <a:off x="4127601" y="5431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57%</a:t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2331720" y="5788152"/>
            <a:ext cx="1569110" cy="219456"/>
          </a:xfrm>
          <a:prstGeom prst="rect">
            <a:avLst/>
          </a:prstGeom>
          <a:solidFill>
            <a:srgbClr val="0080A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 txBox="1"/>
          <p:nvPr/>
        </p:nvSpPr>
        <p:spPr>
          <a:xfrm>
            <a:off x="685800" y="5742432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LargestLineLength</a:t>
            </a:r>
            <a:endParaRPr/>
          </a:p>
        </p:txBody>
      </p:sp>
      <p:sp>
        <p:nvSpPr>
          <p:cNvPr id="517" name="Google Shape;517;p9"/>
          <p:cNvSpPr txBox="1"/>
          <p:nvPr/>
        </p:nvSpPr>
        <p:spPr>
          <a:xfrm>
            <a:off x="3946550" y="5779008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52%</a:t>
            </a: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2331720" y="6135624"/>
            <a:ext cx="1448409" cy="219456"/>
          </a:xfrm>
          <a:prstGeom prst="rect">
            <a:avLst/>
          </a:prstGeom>
          <a:solidFill>
            <a:srgbClr val="0080A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 txBox="1"/>
          <p:nvPr/>
        </p:nvSpPr>
        <p:spPr>
          <a:xfrm>
            <a:off x="685800" y="6089904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NoOfJS</a:t>
            </a:r>
            <a:endParaRPr/>
          </a:p>
        </p:txBody>
      </p:sp>
      <p:sp>
        <p:nvSpPr>
          <p:cNvPr id="520" name="Google Shape;520;p9"/>
          <p:cNvSpPr txBox="1"/>
          <p:nvPr/>
        </p:nvSpPr>
        <p:spPr>
          <a:xfrm>
            <a:off x="3825849" y="6126480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48%</a:t>
            </a: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6309350" y="2743150"/>
            <a:ext cx="5486400" cy="3794700"/>
          </a:xfrm>
          <a:prstGeom prst="rect">
            <a:avLst/>
          </a:prstGeom>
          <a:solidFill>
            <a:srgbClr val="1A2B4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6324050" y="2743200"/>
            <a:ext cx="54900" cy="379470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 txBox="1"/>
          <p:nvPr/>
        </p:nvSpPr>
        <p:spPr>
          <a:xfrm>
            <a:off x="6537943" y="2855482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Matrice de confusion (test 46 721 URLs)</a:t>
            </a:r>
            <a:endParaRPr/>
          </a:p>
        </p:txBody>
      </p:sp>
      <p:sp>
        <p:nvSpPr>
          <p:cNvPr id="524" name="Google Shape;524;p9"/>
          <p:cNvSpPr txBox="1"/>
          <p:nvPr/>
        </p:nvSpPr>
        <p:spPr>
          <a:xfrm>
            <a:off x="7750430" y="3381147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Prédit Phishing</a:t>
            </a:r>
            <a:endParaRPr/>
          </a:p>
        </p:txBody>
      </p:sp>
      <p:sp>
        <p:nvSpPr>
          <p:cNvPr id="525" name="Google Shape;525;p9"/>
          <p:cNvSpPr txBox="1"/>
          <p:nvPr/>
        </p:nvSpPr>
        <p:spPr>
          <a:xfrm>
            <a:off x="9579230" y="3381147"/>
            <a:ext cx="1737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Prédit Légitime</a:t>
            </a: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750430" y="4140798"/>
            <a:ext cx="1691700" cy="987600"/>
          </a:xfrm>
          <a:prstGeom prst="rect">
            <a:avLst/>
          </a:prstGeom>
          <a:solidFill>
            <a:srgbClr val="0038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 txBox="1"/>
          <p:nvPr/>
        </p:nvSpPr>
        <p:spPr>
          <a:xfrm>
            <a:off x="7750430" y="4197772"/>
            <a:ext cx="1691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23 358</a:t>
            </a:r>
            <a:endParaRPr/>
          </a:p>
        </p:txBody>
      </p:sp>
      <p:sp>
        <p:nvSpPr>
          <p:cNvPr id="528" name="Google Shape;528;p9"/>
          <p:cNvSpPr txBox="1"/>
          <p:nvPr/>
        </p:nvSpPr>
        <p:spPr>
          <a:xfrm>
            <a:off x="7750430" y="4767510"/>
            <a:ext cx="1691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9579230" y="4140798"/>
            <a:ext cx="1691700" cy="987600"/>
          </a:xfrm>
          <a:prstGeom prst="rect">
            <a:avLst/>
          </a:prstGeom>
          <a:solidFill>
            <a:srgbClr val="3A0A0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 txBox="1"/>
          <p:nvPr/>
        </p:nvSpPr>
        <p:spPr>
          <a:xfrm>
            <a:off x="9579230" y="4197772"/>
            <a:ext cx="1691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1" name="Google Shape;531;p9"/>
          <p:cNvSpPr txBox="1"/>
          <p:nvPr/>
        </p:nvSpPr>
        <p:spPr>
          <a:xfrm>
            <a:off x="9579230" y="4767510"/>
            <a:ext cx="1691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FN</a:t>
            </a: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750430" y="5242292"/>
            <a:ext cx="1691700" cy="987600"/>
          </a:xfrm>
          <a:prstGeom prst="rect">
            <a:avLst/>
          </a:prstGeom>
          <a:solidFill>
            <a:srgbClr val="3A0A0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 txBox="1"/>
          <p:nvPr/>
        </p:nvSpPr>
        <p:spPr>
          <a:xfrm>
            <a:off x="7750430" y="5299266"/>
            <a:ext cx="1691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4" name="Google Shape;534;p9"/>
          <p:cNvSpPr txBox="1"/>
          <p:nvPr/>
        </p:nvSpPr>
        <p:spPr>
          <a:xfrm>
            <a:off x="7750430" y="5869005"/>
            <a:ext cx="1691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/>
          </a:p>
        </p:txBody>
      </p:sp>
      <p:sp>
        <p:nvSpPr>
          <p:cNvPr id="535" name="Google Shape;535;p9"/>
          <p:cNvSpPr/>
          <p:nvPr/>
        </p:nvSpPr>
        <p:spPr>
          <a:xfrm>
            <a:off x="9579230" y="5242292"/>
            <a:ext cx="1691700" cy="987600"/>
          </a:xfrm>
          <a:prstGeom prst="rect">
            <a:avLst/>
          </a:prstGeom>
          <a:solidFill>
            <a:srgbClr val="00381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 txBox="1"/>
          <p:nvPr/>
        </p:nvSpPr>
        <p:spPr>
          <a:xfrm>
            <a:off x="9579230" y="5299266"/>
            <a:ext cx="1691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23 36</a:t>
            </a:r>
            <a:r>
              <a:rPr lang="en-US" sz="1500" b="1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7" name="Google Shape;537;p9"/>
          <p:cNvSpPr txBox="1"/>
          <p:nvPr/>
        </p:nvSpPr>
        <p:spPr>
          <a:xfrm>
            <a:off x="9579230" y="5869005"/>
            <a:ext cx="1691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/>
          </a:p>
        </p:txBody>
      </p:sp>
      <p:sp>
        <p:nvSpPr>
          <p:cNvPr id="538" name="Google Shape;538;p9"/>
          <p:cNvSpPr txBox="1"/>
          <p:nvPr/>
        </p:nvSpPr>
        <p:spPr>
          <a:xfrm>
            <a:off x="6625718" y="4330709"/>
            <a:ext cx="1051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Phishing réel</a:t>
            </a:r>
            <a:endParaRPr/>
          </a:p>
        </p:txBody>
      </p:sp>
      <p:sp>
        <p:nvSpPr>
          <p:cNvPr id="539" name="Google Shape;539;p9"/>
          <p:cNvSpPr txBox="1"/>
          <p:nvPr/>
        </p:nvSpPr>
        <p:spPr>
          <a:xfrm>
            <a:off x="6625718" y="5432205"/>
            <a:ext cx="1051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0" rIns="5080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A8B8CC"/>
                </a:solidFill>
                <a:latin typeface="Calibri"/>
                <a:ea typeface="Calibri"/>
                <a:cs typeface="Calibri"/>
                <a:sym typeface="Calibri"/>
              </a:rPr>
              <a:t>Légitime réel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1035</Words>
  <Application>Microsoft Office PowerPoint</Application>
  <PresentationFormat>Personnalisé</PresentationFormat>
  <Paragraphs>276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Rayen Boumiza</cp:lastModifiedBy>
  <cp:revision>2</cp:revision>
  <dcterms:created xsi:type="dcterms:W3CDTF">2013-01-27T09:14:16Z</dcterms:created>
  <dcterms:modified xsi:type="dcterms:W3CDTF">2026-04-15T12:29:28Z</dcterms:modified>
</cp:coreProperties>
</file>